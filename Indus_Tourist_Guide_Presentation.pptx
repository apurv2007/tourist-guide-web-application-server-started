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INDUS INSTITUTE OF TECHNOLOGY &amp; ENGINEERING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r>
              <a:t>Department of Computer Science &amp; Engineering</a:t>
            </a:r>
          </a:p>
          <a:p>
            <a:br/>
            <a:pPr algn="ctr">
              <a:defRPr sz="3200" b="1">
                <a:solidFill>
                  <a:srgbClr val="1E3A8A"/>
                </a:solidFill>
              </a:defRPr>
            </a:pPr>
            <a:r>
              <a:t>INDUS TOURIST GUIDE SYSTEM</a:t>
            </a:r>
          </a:p>
          <a:p>
            <a:pPr algn="ctr">
              <a:defRPr sz="1800" i="1">
                <a:solidFill>
                  <a:srgbClr val="2563EB"/>
                </a:solidFill>
              </a:defRPr>
            </a:pPr>
            <a:r>
              <a:t>Scientific Computing &amp; Data Structures Python Web Application</a:t>
            </a:r>
            <a:br/>
          </a:p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Course Code: CE0525 | Credit Points: 4 | Semester V</a:t>
            </a:r>
          </a:p>
          <a:p>
            <a:br/>
            <a:pPr algn="ctr">
              <a:defRPr sz="1300">
                <a:solidFill>
                  <a:srgbClr val="0F172A"/>
                </a:solidFill>
              </a:defRPr>
            </a:pPr>
            <a:r>
              <a:t>Course Coordinator: Ass. Prof. Sweta Rathod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Course Lecturers: Ass. Prof. Madhvi Bera | Ass. Prof. Babita Patel | Ass. Prof. Anjali Chopra | Ass. Prof. Namrata Bhrambhatt | Ass. Prof. Devyangini Vasava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🎯 Project Vision &amp; Problem Statement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Develop an end-to-end Tourist Guide system built 100% in Python.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Demonstrate practical application of Scientific Computing &amp; Data Structures.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Provide both a Web Application interface (Flask) and a Desktop Management tool (Tkinter).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Implement real-world dataset analytics, route planning, booking management, and certified guide directory.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Strict compliance with CE0525 University Course Syllabus.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🚀 Key Engineering Objectives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1. Web &amp; Desktop Dual Interface: Flask microframework + Tkinter desktop GUI.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2. Custom Data Structures: Singly Linked List for day-by-day tour itineraries.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3. Algorithmic Processing: Selection Sort, Merge Sort, Linear Search, Binary Search.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4. Scientific Analytics: Pandas statistical summarization &amp; Matplotlib plotting.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5. Object-Oriented Design: Encapsulation, Single/Multiple Inheritance, Method Overriding.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University Course Syllabus Alignment (CE0525)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Syllabus Unit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Core Course Concepts Covered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Project Implementation &amp; Modules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UNIT I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(Basic Elements)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Branching, Looping, Functions, Recursion, Files (CSV/TXT), Lists, Tuples, Dicts, Sets, lambda, map(), filter().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data_initializer.py, utils.py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File I/O persistence, Higher-Order category filtering and promotional discount mapping.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UNIT II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(OOP &amp; Data Structures)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Classes, Encapsulation, Single/Multiple Inheritance, Method Overriding, Singly Linked List, Searching/Sorting, re, threading.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models.py, utils.py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TouristSpot &amp; Booking classes, Local/Agency Guide inheritance, Itinerary LinkedList, Linear/Binary search, Selection/Merge sort.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UNIT III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(GUI &amp; Plotting)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Tkinter GUI (Widgets, Dropdowns, Treeview, Forms, Canvas), NumPy arrays, Matplotlib / PyLab bar &amp; pie charts.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admin_gui.py, utils.py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Tkinter Multi-tab Desktop Admin Tool, NumPy array calculations, Matplotlib bar chart of ratings &amp; pie chart of category distribution.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UNIT IV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(Pandas &amp; Web)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Python Pandas (Data Alignment, Aggregation, Summarization describe()), Basics of Web development (Flask Framework).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app.py, utils.py</a:t>
                      </a:r>
                    </a:p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Flask web server with dynamic routing, Jinja2 rendering, Pandas df.describe() statistical analytics table.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28416" cy="49377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🌐 Presentation Layer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Flask Web Application (app.py)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Bootstrap 5 Responsive Layout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Dynamic Jinja2 Template Views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Tkinter Desktop Admin Tool (admin_gui.py)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Interactive Treeview &amp; OptionMenu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371600"/>
            <a:ext cx="3328416" cy="49377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⚙️ Business &amp; Logic Layer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OOP Domain Models (models.py)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Singly Linked List Itinerary Engine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Linear &amp; Binary Search Modules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Selection &amp; Merge Sort Engines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Regex Input Validation (utils.py)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9377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📊 Analytics &amp; Data Layer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Pandas DataFrame &amp; Aggregation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NumPy Vectorized Calculations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Matplotlib Chart Generator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CSV File Persistence Engine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TXT File Reviews &amp; Audit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Unit I: Data Persistence &amp; Higher-Order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📁 File Handling (CSV &amp; Text Files)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Structured CSV Files: destinations.csv, guides.csv, bookings.csv.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Unstructured TXT Files: reviews.txt for user feedback.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File Operations: open(), read(), write(), append ('a'), and DictReader.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Audit Logging: Asynchronous file writes for security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⚡ Higher-Order Functions (lambda, map, filter)</a:t>
            </a:r>
          </a:p>
          <a:p>
            <a:pPr>
              <a:spcBef>
                <a:spcPts val="800"/>
              </a:spcBef>
              <a:defRPr sz="1300" b="1">
                <a:solidFill>
                  <a:srgbClr val="1E3A8A"/>
                </a:solidFill>
              </a:defRPr>
            </a:pPr>
            <a:r>
              <a:t>1. Category Filtering with filter() &amp; lambda:</a:t>
            </a:r>
          </a:p>
          <a:p>
            <a:pPr>
              <a:defRPr sz="1100">
                <a:solidFill>
                  <a:srgbClr val="0F172A"/>
                </a:solidFill>
                <a:latin typeface="Consolas"/>
              </a:defRPr>
            </a:pPr>
            <a:r>
              <a:t>   filter_spots_by_category = lambda spots, cat:</a:t>
            </a:r>
            <a:br/>
            <a:r>
              <a:t>   list(filter(lambda s: s.category.lower() == cat.lower(), spots))</a:t>
            </a:r>
          </a:p>
          <a:p>
            <a:pPr>
              <a:spcBef>
                <a:spcPts val="1200"/>
              </a:spcBef>
              <a:defRPr sz="1300" b="1">
                <a:solidFill>
                  <a:srgbClr val="1E3A8A"/>
                </a:solidFill>
              </a:defRPr>
            </a:pPr>
            <a:r>
              <a:t>2. Price Discount Calculation with map() &amp; lambda:</a:t>
            </a:r>
          </a:p>
          <a:p>
            <a:pPr>
              <a:defRPr sz="1100">
                <a:solidFill>
                  <a:srgbClr val="0F172A"/>
                </a:solidFill>
                <a:latin typeface="Consolas"/>
              </a:defRPr>
            </a:pPr>
            <a:r>
              <a:t>   calculate_discounted_prices = lambda spots:</a:t>
            </a:r>
            <a:br/>
            <a:r>
              <a:t>   list(map(lambda s: s.price * 0.90, spots))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Unit II: Object-Oriented Programming &amp; Encapsulation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🔒 Encapsulation &amp; Protected Attributes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Encapsulated State: Price (_price) and Rating (_rating) are protected attributes.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Property Decorators: Getter and Setter methods control access.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Data Validation: Setters enforce rules (e.g., price &gt;= 0, rating between 0.0 and 5.0).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Information Hiding: Internal representation hidden from client caller.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💻 Code Implementation (TouristSpot Class)</a:t>
            </a:r>
          </a:p>
          <a:p>
            <a:pPr>
              <a:defRPr sz="1100">
                <a:solidFill>
                  <a:srgbClr val="0F172A"/>
                </a:solidFill>
                <a:latin typeface="Consolas"/>
              </a:defRPr>
            </a:pPr>
            <a:r>
              <a:t>class TouristSpot:</a:t>
            </a:r>
            <a:br/>
            <a:r>
              <a:t>    def __init__(self, spot_id, name, price, rating):</a:t>
            </a:r>
            <a:br/>
            <a:r>
              <a:t>        self.spot_id = spot_id</a:t>
            </a:r>
            <a:br/>
            <a:r>
              <a:t>        self.name = name</a:t>
            </a:r>
            <a:br/>
            <a:r>
              <a:t>        self._price = float(price)   # Protected</a:t>
            </a:r>
            <a:br/>
            <a:r>
              <a:t>        self._rating = float(rating) # Protected</a:t>
            </a:r>
            <a:br/>
            <a:br/>
            <a:r>
              <a:t>    @property</a:t>
            </a:r>
            <a:br/>
            <a:r>
              <a:t>    def price(self):</a:t>
            </a:r>
            <a:br/>
            <a:r>
              <a:t>        return self._price</a:t>
            </a:r>
            <a:br/>
            <a:br/>
            <a:r>
              <a:t>    @price.setter</a:t>
            </a:r>
            <a:br/>
            <a:r>
              <a:t>    def price(self, value):</a:t>
            </a:r>
            <a:br/>
            <a:r>
              <a:t>        if value &lt; 0:</a:t>
            </a:r>
            <a:br/>
            <a:r>
              <a:t>            raise ValueError("Price cannot be negative")</a:t>
            </a:r>
            <a:br/>
            <a:r>
              <a:t>        self._price = float(value)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Unit II: Inheritance &amp; Method Overriding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280160"/>
            <a:ext cx="3931920" cy="1188720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Base Class: BaseGuide</a:t>
            </a:r>
          </a:p>
          <a:p>
            <a:pPr algn="ctr">
              <a:defRPr sz="1100">
                <a:solidFill>
                  <a:srgbClr val="D97706"/>
                </a:solidFill>
              </a:defRPr>
            </a:pPr>
            <a:r>
              <a:t>calculate_fee(hours) = hourly_rate * hours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457200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Single Inheritance: LocalGuide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Inherits from BaseGuide.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Overridden Method: calculate_fee(hours)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Applies 10% community tourist discount: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return base_fee * 0.90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200400"/>
            <a:ext cx="4572000" cy="29260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Single Inheritance: AgencyGuide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Inherits from BaseGuide.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Overridden Method: calculate_fee(hours)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Applies 15% agency insurance surcharge: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return base_fee * 1.15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Unit II: Custom Data Structure — Singly Linked 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377440" cy="1645920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Head Node</a:t>
            </a:r>
            <a:br/>
            <a:r>
              <a:t>Day 1: Welcome &amp; Arrival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Duration: 4 hrs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377440" cy="164592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Node 2</a:t>
            </a:r>
            <a:br/>
            <a:r>
              <a:t>Day 2: Guided Sightseeing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Duration: 7 hrs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377440" cy="164592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Node 3</a:t>
            </a:r>
            <a:br/>
            <a:r>
              <a:t>Day 3: Culture &amp; Market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Duration: 6 hrs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377440" cy="1645920"/>
          </a:xfrm>
          <a:prstGeom prst="roundRect">
            <a:avLst/>
          </a:prstGeom>
          <a:solidFill>
            <a:srgbClr val="D9770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Tail Node</a:t>
            </a:r>
            <a:br/>
            <a:r>
              <a:t>Day 4: Departure Walk</a:t>
            </a:r>
          </a:p>
          <a:p>
            <a:pPr algn="ctr">
              <a:defRPr sz="1100">
                <a:solidFill>
                  <a:srgbClr val="F1F5F9"/>
                </a:solidFill>
              </a:defRPr>
            </a:pPr>
            <a:r>
              <a:t>Next: None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728655" cy="283464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⛓️ ItineraryLinkedList Data Structure Implementation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ItineraryNode: Stores day_num, title, activity, duration_hrs, and next pointer.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Sequential Route Traversal: Navigates day-by-day tour stops linearly.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Operations Implemented: insert_step() at end, display() list conversion, delete_step() by day number.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t>• Use Case: Dynamically formats tour itineraries for destinations in destination_detail 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Unit II: Searching &amp; Sorting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🔍 Searching Techniques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1. Linear Search (linear_search_destinations):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   - Scans name, location, state, category, and description.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   - Case-insensitive string matching.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2. Binary Search (binary_search_destinations):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   - Operates on spot_id sorted array in O(log n) time.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   - Divide-and-conquer search strategy.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📊 Sorting Algorithms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1. Selection Sort (selection_sort_destinations):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   - Sorts destinations by price (Low to High or High to Low).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   - In-place comparative sorting algorithm.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2. Merge Sort (merge_sort_destinations):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   - Recursive divide-and-conquer sorting algorithm.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   - Sorts tourist spots by rating to display Top-Rated destinations on Home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Unit II: Regular Expressions &amp; Multithreading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🔤 Regular Expressions (re Module)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Email Pattern: ^[a-zA-Z0-9._%+-]+@[a-zA-Z0-9.-]+\.[a-zA-Z]{2,}$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Phone Pattern: ^[6-9]\d{9}$ (10-digit Indian phone validation).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Date Pattern: ^\d{4}-\d{2}-\d{2}$ (YYYY-MM-DD format).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Regex Review Search: re.search() matches query patterns across user feedback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🧵 Multithreading (threading.Thread)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Asynchronous Logging: Launches background thread upon new booking creation.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Non-blocking Execution: Web server returns instant response to user while thread logs to file.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Audit Log File: system_audit.log records timestamps and booking activities.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Thread Safety: Independent log file appends without main thread blocking.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Unit III: Tkinter Desktop Management GUI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🖥️ Desktop Admin Interface (admin_gui.py)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Multi-Tab Layout (ttk.Notebook): Organized into Destinations Catalog, Add Spot Form, Fare Calculator, and Syllabus Mapping tabs.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Interactive Data Table (ttk.Treeview): Displays destinations with columns (ID, Name, Location, Category, Price, Rating, State).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Category Dropdown Filter (ttk.OptionMenu): Dynamically filters treeview records by tourist spot category.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Destination Entry Form: Inputs new tourist spot records, performs float/int validation, and appends to destinations.csv.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Tour Fare Calculator: Computes base cost, guide fees, and 5% GST tax estimate with instant output display.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Unit III &amp; IV: Scientific Computing &amp; Data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28416" cy="49377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📈 Pandas Data Analysis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df.describe() statistical table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Mean price &amp; duration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Standard deviation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Group-by category counts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Total booking revenue sum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371600"/>
            <a:ext cx="3328416" cy="49377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🔢 NumPy Array Computing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Vectorized prices array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np.mean() average price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np.std() price standard dev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np.max() &amp; np.min() range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Array matrix math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9377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📊 Matplotlib Chart Generation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Bar Chart: Category Ratings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Pie Chart: Spot Distribution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Saved as PNG static assets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Agg non-interactive backend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Embedded in Web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Unit IV: Flask Web Application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800" b="1">
                <a:solidFill>
                  <a:srgbClr val="1E3A8A"/>
                </a:solidFill>
              </a:defRPr>
            </a:pPr>
            <a:r>
              <a:t>🌐 Flask Microframework &amp; Web Routes Architecture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/ (Home): Featured top-rated destinations (Merge Sort) and quick statistics counters.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/destinations: Catalog with category filter (lambda), budget filter, and price/rating sorting.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/destination/&lt;id&gt;: Detailed view with Singly Linked List itinerary, guide rates, and booking form.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/book: POST route receiving booking data, validating email/phone with Regex, and appending to CSV.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/bookings: View all confirmed user tour bookings persisted in CSV.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/guides: Certified tour guide directory demonstrating OOP inheritance and overridden fee calculations.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/reviews: Submit traveler reviews and regex search pattern matching across feedback.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/analytics: Scientific Analytics dashboard displaying Pandas describe() table &amp; Matplotlib PNG charts.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CE0525: PROGRAMMING FOR SCIENTIFIC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Testing, Verification &amp; Project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✅ Unit Test Verification (test_suite.py)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Test Suite Status: 10 / 10 Tests PASSED (OK).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File I/O Test: Successfully loads &amp; parses CSV/TXT.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OOP &amp; Encapsulation Test: Validates setter constraints.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Inheritance Test: Verifies overridden calculate_fee().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Linked List Test: Verifies node insert/delete operations.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Searching &amp; Sorting Test: Validates Linear/Binary search &amp; Selection/Merge sort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🎓 Conclusion &amp; Summary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100% Course Compliance: Successfully integrated all topics across Units I, II, III, and IV.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Dual Interface Advantage: Seamless combination of Flask Web app and Tkinter Desktop tool.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Scientific Computing: Scientific data analysis executed with Pandas, NumPy, and Matplotlib.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• Practical Relevance: Real-world usable application for tourism &amp; guide booking.</a:t>
            </a:r>
          </a:p>
          <a:p>
            <a:br/>
            <a:pPr algn="ctr">
              <a:defRPr sz="1500" b="1">
                <a:solidFill>
                  <a:srgbClr val="1E3A8A"/>
                </a:solidFill>
              </a:defRPr>
            </a:pPr>
            <a:r>
              <a:t>Thank You!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